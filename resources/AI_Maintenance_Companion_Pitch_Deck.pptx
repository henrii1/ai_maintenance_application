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technician,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beside them.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35204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the technical knowledge needed to maintain</a:t>
            </a:r>
            <a:endParaRPr lang="en-US" sz="21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•   VERIFY   •   MAINTAIN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5806440"/>
            <a:ext cx="457200" cy="27432"/>
          </a:xfrm>
          <a:prstGeom prst="rect">
            <a:avLst/>
          </a:prstGeom>
          <a:solidFill>
            <a:srgbClr val="C4973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equipment manuals into maintenance intelligence.</a:t>
            </a:r>
            <a:endParaRPr lang="en-US" sz="1300" dirty="0"/>
          </a:p>
        </p:txBody>
      </p:sp>
      <p:pic>
        <p:nvPicPr>
          <p:cNvPr id="8" name="Image 0" descr="/home/claude/work/icons/brainW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64040" y="23317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information is hard to access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exists. The technician loses time finding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484778" cy="3977640"/>
          </a:xfrm>
          <a:prstGeom prst="roundRect">
            <a:avLst>
              <a:gd name="adj" fmla="val 3674"/>
            </a:avLst>
          </a:prstGeom>
          <a:solidFill>
            <a:srgbClr val="F6F8FA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6" name="Image 0" descr="/home/claude/work/icons/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844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NEEDS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84469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53458" y="2148840"/>
            <a:ext cx="3484778" cy="3977640"/>
          </a:xfrm>
          <a:prstGeom prst="roundRect">
            <a:avLst>
              <a:gd name="adj" fmla="val 3674"/>
            </a:avLst>
          </a:prstGeom>
          <a:solidFill>
            <a:srgbClr val="FAEBEB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10" name="Image 1" descr="/home/claude/wor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4688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73498" y="3108960"/>
            <a:ext cx="2844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73498" y="3657600"/>
            <a:ext cx="284469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manual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hundreds of pages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model &amp; revision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values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203997" y="2148840"/>
            <a:ext cx="3484778" cy="3977640"/>
          </a:xfrm>
          <a:prstGeom prst="roundRect">
            <a:avLst>
              <a:gd name="adj" fmla="val 3674"/>
            </a:avLst>
          </a:prstGeom>
          <a:solidFill>
            <a:srgbClr val="F8F2E1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14" name="Image 2" descr="/home/claude/work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4688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24037" y="3108960"/>
            <a:ext cx="2844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524037" y="3657600"/>
            <a:ext cx="284469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time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repairs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experts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missed information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 piston: the information bottleneck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job becomes a 3+ hour job when finding the right information takes over an hour.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AEBEB"/>
          </a:solidFill>
          <a:ln/>
        </p:spPr>
      </p:sp>
      <p:pic>
        <p:nvPicPr>
          <p:cNvPr id="6" name="Image 0" descr="/home/claude/work/icons/photo_old_w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947672"/>
            <a:ext cx="2072579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5811" y="2020824"/>
            <a:ext cx="2807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30" kern="0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785811" y="2295144"/>
            <a:ext cx="28071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hours total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85811" y="2834640"/>
            <a:ext cx="2807117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manual</a:t>
            </a:r>
            <a:endParaRPr lang="en-US" sz="1350" dirty="0"/>
          </a:p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hundreds of pages</a:t>
            </a:r>
            <a:endParaRPr lang="en-US" sz="1350" dirty="0"/>
          </a:p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model &amp; revision</a:t>
            </a:r>
            <a:endParaRPr lang="en-US" sz="1350" dirty="0"/>
          </a:p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exact values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5394960"/>
            <a:ext cx="48156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1" name="Image 1" descr="/home/claude/work/icons/clock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4498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1016" y="5394960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hour spent just finding information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24448" y="187452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E7F4F0"/>
          </a:solidFill>
          <a:ln/>
        </p:spPr>
      </p:sp>
      <p:pic>
        <p:nvPicPr>
          <p:cNvPr id="14" name="Image 2" descr="/home/claude/work/icons/photo_ai_compan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97600" y="1947672"/>
            <a:ext cx="2072579" cy="33832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07339" y="2020824"/>
            <a:ext cx="2807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30" kern="0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COMPANION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607339" y="2295144"/>
            <a:ext cx="28071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 total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8607339" y="2834640"/>
            <a:ext cx="2807117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</a:t>
            </a:r>
            <a:endParaRPr lang="en-US" sz="1350" dirty="0"/>
          </a:p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procedure, values &amp; tools at once</a:t>
            </a:r>
            <a:endParaRPr lang="en-US" sz="1350" dirty="0"/>
          </a:p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source manual</a:t>
            </a:r>
            <a:endParaRPr lang="en-US" sz="1350" dirty="0"/>
          </a:p>
          <a:p>
            <a:pPr marL="152400" indent="-152400">
              <a:lnSpc>
                <a:spcPct val="122000"/>
              </a:lnSpc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working — no lost time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598768" y="5394960"/>
            <a:ext cx="48156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9" name="Image 3" descr="/home/claude/work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784" y="544982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92544" y="5394960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like having an expert next to me.”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2920" y="6016752"/>
            <a:ext cx="11185855" cy="512064"/>
          </a:xfrm>
          <a:prstGeom prst="roundRect">
            <a:avLst>
              <a:gd name="adj" fmla="val 17857"/>
            </a:avLst>
          </a:prstGeom>
          <a:solidFill>
            <a:srgbClr val="0F1E34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6016752"/>
            <a:ext cx="104543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less total job time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same job, less time spent searching instead of repairing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while you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retrieves the exact information from the equipment's approved documentation.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484778" cy="3566160"/>
          </a:xfrm>
          <a:prstGeom prst="roundRect">
            <a:avLst>
              <a:gd name="adj" fmla="val 3674"/>
            </a:avLst>
          </a:prstGeom>
          <a:solidFill>
            <a:srgbClr val="F6F8FA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6" name="Image 0" descr="/home/claude/work/icons/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844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84469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piston installation procedure, clearances, torque values, measurements and required tools?”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53458" y="2148840"/>
            <a:ext cx="3484778" cy="3566160"/>
          </a:xfrm>
          <a:prstGeom prst="roundRect">
            <a:avLst>
              <a:gd name="adj" fmla="val 3674"/>
            </a:avLst>
          </a:prstGeom>
          <a:solidFill>
            <a:srgbClr val="E7F4F0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10" name="Image 1" descr="/home/claude/work/icons/fileLi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4688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73498" y="3108960"/>
            <a:ext cx="2844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73498" y="3611880"/>
            <a:ext cx="284469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Clearances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203997" y="2148840"/>
            <a:ext cx="3484778" cy="3566160"/>
          </a:xfrm>
          <a:prstGeom prst="roundRect">
            <a:avLst>
              <a:gd name="adj" fmla="val 3674"/>
            </a:avLst>
          </a:prstGeom>
          <a:solidFill>
            <a:srgbClr val="F8F2E1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14" name="Image 2" descr="/home/claude/work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4688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24037" y="3108960"/>
            <a:ext cx="2844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524037" y="3611880"/>
            <a:ext cx="284469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20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02920" y="5916168"/>
            <a:ext cx="11185855" cy="502920"/>
          </a:xfrm>
          <a:prstGeom prst="roundRect">
            <a:avLst>
              <a:gd name="adj" fmla="val 18182"/>
            </a:avLst>
          </a:prstGeom>
          <a:solidFill>
            <a:srgbClr val="0F1E34"/>
          </a:solidFill>
          <a:ln/>
        </p:spPr>
      </p:sp>
      <p:sp>
        <p:nvSpPr>
          <p:cNvPr id="18" name="Text 13"/>
          <p:cNvSpPr/>
          <p:nvPr/>
        </p:nvSpPr>
        <p:spPr>
          <a:xfrm>
            <a:off x="502920" y="59161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is part of the answer.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searching. More maintenance.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job. Less non-value-adding time.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364328" cy="2651760"/>
          </a:xfrm>
          <a:prstGeom prst="roundRect">
            <a:avLst>
              <a:gd name="adj" fmla="val 4828"/>
            </a:avLst>
          </a:prstGeom>
          <a:solidFill>
            <a:srgbClr val="FAEB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32304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hr searching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63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 repair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3986784"/>
            <a:ext cx="4632808" cy="0"/>
          </a:xfrm>
          <a:prstGeom prst="line">
            <a:avLst/>
          </a:prstGeom>
          <a:noFill/>
          <a:ln w="19050">
            <a:solidFill>
              <a:srgbClr val="AA37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59936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3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3+ hr total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24448" y="2194560"/>
            <a:ext cx="5364328" cy="2651760"/>
          </a:xfrm>
          <a:prstGeom prst="roundRect">
            <a:avLst>
              <a:gd name="adj" fmla="val 4828"/>
            </a:avLst>
          </a:prstGeom>
          <a:solidFill>
            <a:srgbClr val="E7F4F0"/>
          </a:solidFill>
          <a:ln/>
        </p:spPr>
      </p:sp>
      <p:sp>
        <p:nvSpPr>
          <p:cNvPr id="13" name="Text 11"/>
          <p:cNvSpPr/>
          <p:nvPr/>
        </p:nvSpPr>
        <p:spPr>
          <a:xfrm>
            <a:off x="6690208" y="2432304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50" kern="0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90208" y="292608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while working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90208" y="3291840"/>
            <a:ext cx="463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90208" y="356616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 repair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90208" y="3986784"/>
            <a:ext cx="4632808" cy="0"/>
          </a:xfrm>
          <a:prstGeom prst="line">
            <a:avLst/>
          </a:prstGeom>
          <a:noFill/>
          <a:ln w="19050">
            <a:solidFill>
              <a:srgbClr val="167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0208" y="4059936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~2 hr total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12174"/>
            </a:avLst>
          </a:prstGeom>
          <a:solidFill>
            <a:srgbClr val="0F1E3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221224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≈33% LESS TOTAL JOB TIME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02920" y="58978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4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case: assumes the 1+ hour search is avoided.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knowledge improves the maintenance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3484778" cy="3291840"/>
          </a:xfrm>
          <a:prstGeom prst="roundRect">
            <a:avLst>
              <a:gd name="adj" fmla="val 3889"/>
            </a:avLst>
          </a:prstGeom>
          <a:solidFill>
            <a:srgbClr val="F6F8FA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5" name="Image 0" descr="/home/claude/work/icons/clo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88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429000"/>
            <a:ext cx="284469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" kern="0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REPAIRS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28446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searching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quicker return to service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53458" y="2468880"/>
            <a:ext cx="3484778" cy="3291840"/>
          </a:xfrm>
          <a:prstGeom prst="roundRect">
            <a:avLst>
              <a:gd name="adj" fmla="val 3889"/>
            </a:avLst>
          </a:prstGeom>
          <a:solidFill>
            <a:srgbClr val="E7F4F0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9" name="Image 1" descr="/home/claude/work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7889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3498" y="3429000"/>
            <a:ext cx="284469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" kern="0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EXECUTION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73498" y="4160520"/>
            <a:ext cx="28446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procedure</a:t>
            </a:r>
            <a:endParaRPr lang="en-US" sz="19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values</a:t>
            </a:r>
            <a:endParaRPr lang="en-US" sz="1900" dirty="0"/>
          </a:p>
          <a:p>
            <a:pPr marL="228600" indent="-228600">
              <a:lnSpc>
                <a:spcPct val="135000"/>
              </a:lnSpc>
              <a:buSzPct val="100000"/>
              <a:buChar char="▪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revision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8203997" y="2468880"/>
            <a:ext cx="3484778" cy="3291840"/>
          </a:xfrm>
          <a:prstGeom prst="roundRect">
            <a:avLst>
              <a:gd name="adj" fmla="val 3889"/>
            </a:avLst>
          </a:prstGeom>
          <a:solidFill>
            <a:srgbClr val="F8F2E1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13" name="Image 2" descr="/home/claude/work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7889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24037" y="3429000"/>
            <a:ext cx="284469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524037" y="4160520"/>
            <a:ext cx="28446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information-search time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shorter maintenance cycle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has caught up with 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484778" cy="3063240"/>
          </a:xfrm>
          <a:prstGeom prst="roundRect">
            <a:avLst>
              <a:gd name="adj" fmla="val 4179"/>
            </a:avLst>
          </a:prstGeom>
          <a:solidFill>
            <a:srgbClr val="F6F8FA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5" name="Image 0" descr="/home/claude/work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54680"/>
            <a:ext cx="28446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spc="30" kern="0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284469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natural-language technical questions.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53458" y="2148840"/>
            <a:ext cx="3484778" cy="3063240"/>
          </a:xfrm>
          <a:prstGeom prst="roundRect">
            <a:avLst>
              <a:gd name="adj" fmla="val 4179"/>
            </a:avLst>
          </a:prstGeom>
          <a:solidFill>
            <a:srgbClr val="E7F4F0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9" name="Image 1" descr="/home/claude/wor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4688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3498" y="3154680"/>
            <a:ext cx="28446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spc="30" kern="0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673498" y="3749040"/>
            <a:ext cx="284469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relevant information inside proprietary manuals.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203997" y="2148840"/>
            <a:ext cx="3484778" cy="3063240"/>
          </a:xfrm>
          <a:prstGeom prst="roundRect">
            <a:avLst>
              <a:gd name="adj" fmla="val 4179"/>
            </a:avLst>
          </a:prstGeom>
          <a:solidFill>
            <a:srgbClr val="F8F2E1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pic>
        <p:nvPicPr>
          <p:cNvPr id="13" name="Image 2" descr="/home/claude/work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468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24037" y="3154680"/>
            <a:ext cx="28446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spc="3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524037" y="3749040"/>
            <a:ext cx="284469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already exists. It is simply difficult to access.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02920" y="5532120"/>
            <a:ext cx="11185855" cy="868680"/>
          </a:xfrm>
          <a:prstGeom prst="roundRect">
            <a:avLst>
              <a:gd name="adj" fmla="val 12632"/>
            </a:avLst>
          </a:prstGeom>
          <a:solidFill>
            <a:srgbClr val="0F1E34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553212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PUT AN INTELLIGENT INTERFACE ON INDUSTRIAL KNOWLEDGE.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manuals. Build maintenance intelligence.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3393338" cy="3291840"/>
          </a:xfrm>
          <a:prstGeom prst="roundRect">
            <a:avLst>
              <a:gd name="adj" fmla="val 3889"/>
            </a:avLst>
          </a:prstGeom>
          <a:solidFill>
            <a:srgbClr val="F6F8FA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264E7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670048"/>
            <a:ext cx="211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75325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documentation</a:t>
            </a:r>
            <a:endParaRPr lang="en-US" sz="1950" dirty="0"/>
          </a:p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procedures</a:t>
            </a:r>
            <a:endParaRPr lang="en-US" sz="1950" dirty="0"/>
          </a:p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950" dirty="0"/>
          </a:p>
        </p:txBody>
      </p:sp>
      <p:pic>
        <p:nvPicPr>
          <p:cNvPr id="9" name="Image 0" descr="/home/claude/work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9410" y="3730752"/>
            <a:ext cx="365760" cy="4023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99178" y="2286000"/>
            <a:ext cx="3393338" cy="3291840"/>
          </a:xfrm>
          <a:prstGeom prst="roundRect">
            <a:avLst>
              <a:gd name="adj" fmla="val 3889"/>
            </a:avLst>
          </a:prstGeom>
          <a:solidFill>
            <a:srgbClr val="E7F4F0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9218" y="2606040"/>
            <a:ext cx="548640" cy="548640"/>
          </a:xfrm>
          <a:prstGeom prst="ellipse">
            <a:avLst/>
          </a:prstGeom>
          <a:solidFill>
            <a:srgbClr val="16705B"/>
          </a:solidFill>
          <a:ln/>
        </p:spPr>
      </p:sp>
      <p:sp>
        <p:nvSpPr>
          <p:cNvPr id="12" name="Text 9"/>
          <p:cNvSpPr/>
          <p:nvPr/>
        </p:nvSpPr>
        <p:spPr>
          <a:xfrm>
            <a:off x="4719218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05018" y="2670048"/>
            <a:ext cx="211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CONTEXT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719218" y="3520440"/>
            <a:ext cx="275325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data</a:t>
            </a:r>
            <a:endParaRPr lang="en-US" sz="1950" dirty="0"/>
          </a:p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history</a:t>
            </a:r>
            <a:endParaRPr lang="en-US" sz="1950" dirty="0"/>
          </a:p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</a:t>
            </a:r>
            <a:endParaRPr lang="en-US" sz="1950" dirty="0"/>
          </a:p>
        </p:txBody>
      </p:sp>
      <p:pic>
        <p:nvPicPr>
          <p:cNvPr id="15" name="Image 1" descr="/home/claude/work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69" y="3730752"/>
            <a:ext cx="365760" cy="40233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95437" y="2286000"/>
            <a:ext cx="3393338" cy="3291840"/>
          </a:xfrm>
          <a:prstGeom prst="roundRect">
            <a:avLst>
              <a:gd name="adj" fmla="val 3889"/>
            </a:avLst>
          </a:prstGeom>
          <a:solidFill>
            <a:srgbClr val="F8F2E1"/>
          </a:solidFill>
          <a:ln/>
          <a:effectLst>
            <a:outerShdw sx="100000" sy="100000" kx="0" ky="0" algn="bl" rotWithShape="0" blurRad="101600" dist="25400" dir="5400000">
              <a:srgbClr val="44444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15477" y="2606040"/>
            <a:ext cx="548640" cy="548640"/>
          </a:xfrm>
          <a:prstGeom prst="ellipse">
            <a:avLst/>
          </a:prstGeom>
          <a:solidFill>
            <a:srgbClr val="C49736"/>
          </a:solidFill>
          <a:ln/>
        </p:spPr>
      </p:sp>
      <p:sp>
        <p:nvSpPr>
          <p:cNvPr id="18" name="Text 14"/>
          <p:cNvSpPr/>
          <p:nvPr/>
        </p:nvSpPr>
        <p:spPr>
          <a:xfrm>
            <a:off x="8615477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301277" y="2670048"/>
            <a:ext cx="211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8615477" y="3520440"/>
            <a:ext cx="275325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950" dirty="0"/>
          </a:p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950" dirty="0"/>
          </a:p>
          <a:p>
            <a:pPr marL="228600" indent="-228600">
              <a:lnSpc>
                <a:spcPct val="140000"/>
              </a:lnSpc>
              <a:buSzPct val="100000"/>
              <a:buChar char="▪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asset-intensive industry has equipment.</a:t>
            </a:r>
            <a:endParaRPr lang="en-US" sz="3000" dirty="0"/>
          </a:p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equipment has knowledge.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18408" y="2606040"/>
            <a:ext cx="4754880" cy="1417320"/>
          </a:xfrm>
          <a:prstGeom prst="roundRect">
            <a:avLst>
              <a:gd name="adj" fmla="val 10323"/>
            </a:avLst>
          </a:prstGeom>
          <a:solidFill>
            <a:srgbClr val="0F1E34"/>
          </a:solidFill>
          <a:ln/>
        </p:spPr>
      </p:sp>
      <p:pic>
        <p:nvPicPr>
          <p:cNvPr id="5" name="Image 0" descr="/home/claude/work/icons/oil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448" y="2935224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98568" y="2807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98568" y="3063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095848" y="4023360"/>
            <a:ext cx="0" cy="365760"/>
          </a:xfrm>
          <a:prstGeom prst="line">
            <a:avLst/>
          </a:prstGeom>
          <a:noFill/>
          <a:ln w="25400">
            <a:solidFill>
              <a:srgbClr val="64748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2920" y="4572000"/>
            <a:ext cx="2054291" cy="68580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572000"/>
            <a:ext cx="205429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85811" y="4572000"/>
            <a:ext cx="2054291" cy="68580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/>
        </p:spPr>
      </p:sp>
      <p:sp>
        <p:nvSpPr>
          <p:cNvPr id="12" name="Text 9"/>
          <p:cNvSpPr/>
          <p:nvPr/>
        </p:nvSpPr>
        <p:spPr>
          <a:xfrm>
            <a:off x="2785811" y="4572000"/>
            <a:ext cx="205429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68702" y="4572000"/>
            <a:ext cx="2054291" cy="68580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/>
        </p:spPr>
      </p:sp>
      <p:sp>
        <p:nvSpPr>
          <p:cNvPr id="14" name="Text 11"/>
          <p:cNvSpPr/>
          <p:nvPr/>
        </p:nvSpPr>
        <p:spPr>
          <a:xfrm>
            <a:off x="5068702" y="4572000"/>
            <a:ext cx="205429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51593" y="4572000"/>
            <a:ext cx="2054291" cy="68580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7351593" y="4572000"/>
            <a:ext cx="205429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634484" y="4572000"/>
            <a:ext cx="2054291" cy="68580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/>
        </p:spPr>
      </p:sp>
      <p:sp>
        <p:nvSpPr>
          <p:cNvPr id="18" name="Text 15"/>
          <p:cNvSpPr/>
          <p:nvPr/>
        </p:nvSpPr>
        <p:spPr>
          <a:xfrm>
            <a:off x="9634484" y="4572000"/>
            <a:ext cx="205429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" y="562356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maintenance wedge with a path to broader industrial intelligence.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5087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technician has</a:t>
            </a:r>
            <a:endParaRPr lang="en-US" sz="5000" dirty="0"/>
          </a:p>
          <a:p>
            <a:pPr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beside them.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by making equipment knowledge instantly accessible.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toward the intelligence layer for industrial maintenance.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457200" cy="27432"/>
          </a:xfrm>
          <a:prstGeom prst="rect">
            <a:avLst/>
          </a:prstGeom>
          <a:solidFill>
            <a:srgbClr val="C4973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COMPANION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49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•   VERIFY   •   MAINTAIN</a:t>
            </a:r>
            <a:endParaRPr lang="en-US" sz="1600" dirty="0"/>
          </a:p>
        </p:txBody>
      </p:sp>
      <p:pic>
        <p:nvPicPr>
          <p:cNvPr id="8" name="Image 0" descr="/home/claude/work/icons/circleCheckW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64040" y="23774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2026-09-09T10:58:46Z</dcterms:created>
  <dcterms:modified xsi:type="dcterms:W3CDTF">2026-09-09T10:58:46Z</dcterms:modified>
</cp:coreProperties>
</file>